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cbba14195f4d96" /><Relationship Type="http://schemas.openxmlformats.org/officeDocument/2006/relationships/extended-properties" Target="/docProps/app.xml" Id="Rc1f5268bb8fc4cb3" /><Relationship Type="http://schemas.openxmlformats.org/officeDocument/2006/relationships/officeDocument" Target="/ppt/presentation.xml" Id="R79889e04cefa43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5719e96fc9446c"/>
  </p:sldMasterIdLst>
  <p:notesMasterIdLst>
    <p:notesMasterId xmlns:r="http://schemas.openxmlformats.org/officeDocument/2006/relationships" r:id="R6bd7b0f479384780"/>
  </p:notesMasterIdLst>
  <p:sldIdLst>
    <p:sldId xmlns:r="http://schemas.openxmlformats.org/officeDocument/2006/relationships" id="256" r:id="R94aaa9c42abf4ec1"/>
    <p:sldId xmlns:r="http://schemas.openxmlformats.org/officeDocument/2006/relationships" id="257" r:id="R0428ae6b67654da2"/>
    <p:sldId xmlns:r="http://schemas.openxmlformats.org/officeDocument/2006/relationships" id="258" r:id="R52fd7b9cbf2a4904"/>
    <p:sldId xmlns:r="http://schemas.openxmlformats.org/officeDocument/2006/relationships" id="259" r:id="Rb5ad2e8270af4433"/>
    <p:sldId xmlns:r="http://schemas.openxmlformats.org/officeDocument/2006/relationships" id="260" r:id="R8362eda13bb84de2"/>
    <p:sldId xmlns:r="http://schemas.openxmlformats.org/officeDocument/2006/relationships" id="261" r:id="R2a465e3811634ca6"/>
    <p:sldId xmlns:r="http://schemas.openxmlformats.org/officeDocument/2006/relationships" id="262" r:id="Rc9b95a654e83435f"/>
    <p:sldId xmlns:r="http://schemas.openxmlformats.org/officeDocument/2006/relationships" id="263" r:id="R91b06e64a7a841ba"/>
    <p:sldId xmlns:r="http://schemas.openxmlformats.org/officeDocument/2006/relationships" id="264" r:id="Re2fbb65028fb42ab"/>
    <p:sldId xmlns:r="http://schemas.openxmlformats.org/officeDocument/2006/relationships" id="265" r:id="R827b72c5c5264673"/>
    <p:sldId xmlns:r="http://schemas.openxmlformats.org/officeDocument/2006/relationships" id="266" r:id="Ra464aad65c2849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dacba9f6f743fc" /><Relationship Type="http://schemas.openxmlformats.org/officeDocument/2006/relationships/slideMaster" Target="/ppt/slideMasters/slideMaster1.xml" Id="Rb25719e96fc9446c" /><Relationship Type="http://schemas.openxmlformats.org/officeDocument/2006/relationships/notesMaster" Target="/ppt/notesMasters/notesMaster1.xml" Id="R6bd7b0f479384780" /><Relationship Type="http://schemas.openxmlformats.org/officeDocument/2006/relationships/presProps" Target="/ppt/presProps.xml" Id="R76e14b131f834df0" /><Relationship Type="http://schemas.openxmlformats.org/officeDocument/2006/relationships/viewProps" Target="/ppt/viewProps.xml" Id="R410f51188024464e" /><Relationship Type="http://schemas.openxmlformats.org/officeDocument/2006/relationships/tableStyles" Target="/ppt/tableStyles.xml" Id="R52f62e14af3c4041" /><Relationship Type="http://schemas.openxmlformats.org/officeDocument/2006/relationships/slide" Target="/ppt/slides/slide1.xml" Id="R94aaa9c42abf4ec1" /><Relationship Type="http://schemas.openxmlformats.org/officeDocument/2006/relationships/slide" Target="/ppt/slides/slide2.xml" Id="R0428ae6b67654da2" /><Relationship Type="http://schemas.openxmlformats.org/officeDocument/2006/relationships/slide" Target="/ppt/slides/slide3.xml" Id="R52fd7b9cbf2a4904" /><Relationship Type="http://schemas.openxmlformats.org/officeDocument/2006/relationships/slide" Target="/ppt/slides/slide4.xml" Id="Rb5ad2e8270af4433" /><Relationship Type="http://schemas.openxmlformats.org/officeDocument/2006/relationships/slide" Target="/ppt/slides/slide5.xml" Id="R8362eda13bb84de2" /><Relationship Type="http://schemas.openxmlformats.org/officeDocument/2006/relationships/slide" Target="/ppt/slides/slide6.xml" Id="R2a465e3811634ca6" /><Relationship Type="http://schemas.openxmlformats.org/officeDocument/2006/relationships/slide" Target="/ppt/slides/slide7.xml" Id="Rc9b95a654e83435f" /><Relationship Type="http://schemas.openxmlformats.org/officeDocument/2006/relationships/slide" Target="/ppt/slides/slide8.xml" Id="R91b06e64a7a841ba" /><Relationship Type="http://schemas.openxmlformats.org/officeDocument/2006/relationships/slide" Target="/ppt/slides/slide9.xml" Id="Re2fbb65028fb42ab" /><Relationship Type="http://schemas.openxmlformats.org/officeDocument/2006/relationships/slide" Target="/ppt/slides/slide10.xml" Id="R827b72c5c5264673" /><Relationship Type="http://schemas.openxmlformats.org/officeDocument/2006/relationships/slide" Target="/ppt/slides/slide11.xml" Id="Ra464aad65c2849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82281ab4704d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9300272c7545af" /><Relationship Type="http://schemas.openxmlformats.org/officeDocument/2006/relationships/notesMaster" Target="/ppt/notesMasters/notesMaster1.xml" Id="R892e3bb759e048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529861602545f5" /><Relationship Type="http://schemas.openxmlformats.org/officeDocument/2006/relationships/notesMaster" Target="/ppt/notesMasters/notesMaster1.xml" Id="R899f1070229546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2e61ab06104d70" /><Relationship Type="http://schemas.openxmlformats.org/officeDocument/2006/relationships/notesMaster" Target="/ppt/notesMasters/notesMaster1.xml" Id="Rc1793b4b3bd84f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558df03132465f" /><Relationship Type="http://schemas.openxmlformats.org/officeDocument/2006/relationships/notesMaster" Target="/ppt/notesMasters/notesMaster1.xml" Id="R8a330611f84145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b24858463447ad" /><Relationship Type="http://schemas.openxmlformats.org/officeDocument/2006/relationships/notesMaster" Target="/ppt/notesMasters/notesMaster1.xml" Id="Rfa9c98501d1c4d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f95d84c65942b5" /><Relationship Type="http://schemas.openxmlformats.org/officeDocument/2006/relationships/notesMaster" Target="/ppt/notesMasters/notesMaster1.xml" Id="Ra26e8a856a6b4b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cdfea235e749b3" /><Relationship Type="http://schemas.openxmlformats.org/officeDocument/2006/relationships/notesMaster" Target="/ppt/notesMasters/notesMaster1.xml" Id="Rd9be7935989940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869020139d430f" /><Relationship Type="http://schemas.openxmlformats.org/officeDocument/2006/relationships/notesMaster" Target="/ppt/notesMasters/notesMaster1.xml" Id="Re5a6cb8ba61046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53dfc4e0074e11" /><Relationship Type="http://schemas.openxmlformats.org/officeDocument/2006/relationships/notesMaster" Target="/ppt/notesMasters/notesMaster1.xml" Id="Ra0c1447080a24c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3bb83d8d224172" /><Relationship Type="http://schemas.openxmlformats.org/officeDocument/2006/relationships/notesMaster" Target="/ppt/notesMasters/notesMaster1.xml" Id="R9d0f283df48d47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f3763375ad4285" /><Relationship Type="http://schemas.openxmlformats.org/officeDocument/2006/relationships/notesMaster" Target="/ppt/notesMasters/notesMaster1.xml" Id="R0dc5b4ecd6e44d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Открытие. За 60 минут с вопросами собираем учебный call-center. Ведущий и автономный агент работают с двумя чистыми Debian 12 WSL-инстансами на одной Windows-машине. На занятии исполняем подготовленную карту 019, сейчас её не запускать.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Пояснить, что это демонстрация работы, не доклад о готовом продукте. Два независимых чистых Debian 12 WSL2 на одном Windows-хосте. Подготовительный срез 019-A делается до начала часа: одинаковый rootfs и базовый systemd, но FreeSWITCH и учебный конфиг ещё не установлены. В сетевом пространстве WSL слушающие порты могут конфликтовать: подготовка параллельна, живые проверки идут по очереди.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различие: 1000/1001/1002 — SIP-учётки, 7000/7100 — номера dialplan, support@default и science-bot@default — имена очередей. Во втором мастер-классе к 1002 подключим односессионного SIP-бота, но сейчас не выдавать конфигурацию за живой бот-звонок.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занятием: 019-A, два свежих Debian 12 WSL-инстанса на одном Windows-хосте; ≥20 GiB на каждый; rootfs и пакеты разрешено заранее скачать и проверить SHA-256. Не выполнять Map-019 до конференции. Во время занятия команды агенту выдаются по самодостаточной карте, без истории этого чата. Не перезаписывать чужие WSL-дистрибутивы, не выполнять wsl --shutdown, не трогать Docker. Из-за общего network namespace установка пакетов, если postinst запускает службу, и live gates координируются ведущим. Время ожидания окна не входит в активное время сравнения.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root shell Debian добавить deb [signed-by=/usr/share/keyrings/freeswitch-packaging.gpg] http://fi.itlnk.ru/freeswitch bookworm main. Сверить fingerprint ключа 655DA1341B5207915210AFE936B4249FA7B0FB03. apt-get update; apt-cache policy freeswitch freeswitch-mod-callcenter; DEBIAN_FRONTEND=noninteractive apt-get install -y freeswitch-meta-vanilla freeswitch-mod-callcenter freeswitch-systemd; systemctl enable --now freeswitch; systemctl is-active freeswitch; fs_cli -x status. Не использовать trusted=yes. Показать, откуда взяты пакеты. Полные команды — docs/workshops/freeswitch-callcenter-masterclass.md, раздел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Две portable MicroSIP-копии в независимых каталогах Windows. Учётки 1000/1001, пароль из vars.xml default_password (учебный Workshop-2026!), сервер IPv4 Debian:5060, UDP, PCMU/8000. Для двух копий — sourcePort 5062/5064, RTP ranges 40000–40100 и 40200–40300. Проверить регистрацию, затем прямой вызов 1000→1001, ответить, произнести фразу, показать show channels и слышимость в обе стороны. На одном компьютере использовать гарнитуру/mute для предотвращения акустической обратной связи. При проблемах со звуком проверить SIP-IP/RTP-IP/Ext-* через sofia status profile internal, выключить STUN в учебной LAN-конфигурации и запускать FreeSWITCH с -nonat -nonatmap, как в сценарии.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modules.conf.xml раскомментировать &lt;load module="mod_callcenter"/&gt;. В callcenter.conf.xml руками показать очереди, агентов callback и tier; tier связывает конкретного агента с очередью. Для оператора contact=[leg_timeout=15]user/1001@$${domain}; буквальное user/1001@default ранее приводило к SUBSCRIBER_ABSENT. Для бота contact с absolute_codec_string=PCMU. Dialplan extension 7000 выполняет answer и callcenter support@default, 7100 — answer, запись стерео и callcenter science-bot@default. Рестарт сервиса; module_exists mod_callcenter, callcenter_config queue list, agent list, tier list. Подчеркнуть, что 1002 здесь только подготовлен и ещё не зарегистрирован.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Звонок 1000→7000. До ответа показать callcenter_config queue list members support@default, callcenter_config agent list 1001@default, show channels: waiting/trying, слышно удержание. На 1001 ответить, убедиться в двустороннем PCMU-звуке, показать answered/in a queue call. 7100 не выдавать за звонок к работающему боту: 1002 подключим на следующем мастер-классе. Если очередной вызов не проходит, не маскировать это статусом fs_cli: пройти цепь module→queue→agent/tier→dialplan→SIP registration→RTP.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Ведущий проверяет агентский стенд независимо от самоотчёта: fs_cli, регистрации, прямой разговор и слышимость, queue state, 7000. Ожидание сетевого окна не считать активной работой. Если в одном стенде красный gate — не объявлять победу другого вместо исправления. После занятия второй мастер-класс подключит SIP-ассистента к 1002, обучит его по документам через RAG, проверит второй одновременный вызов и перевод к человеку на 7000.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ожидаемый итог занятия, не отчёт о заранее проведённом прогоне. Перед показом сверить фактический результат: active/enabled, две регистрации, прямой двусторонний звук, mod_callcenter true, обе очереди/агента/tier, answered 7000 и звук. На 7100 не обещать живой бот-сценарий сегодня. При срыве live gate честно назвать незакрытую проверку и место ошибки.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 ведёт на https://t.me/borikbobrujskov. Вопросы по настройке FreeSWITCH и следующий мастер-класс по SIP-ассистенту/RAG. Контакты взяты из ранее подготовленного доклада этого же спикера, не из шаблонной заглушки.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755e4d56d44a3" /><Relationship Type="http://schemas.openxmlformats.org/officeDocument/2006/relationships/image" Target="/ppt/media/image2.png" Id="R1ac1f904fe5647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8bbcacde24e6a" /><Relationship Type="http://schemas.openxmlformats.org/officeDocument/2006/relationships/image" Target="/ppt/media/image3.png" Id="R9c9edd24ea4f4e03" /><Relationship Type="http://schemas.openxmlformats.org/officeDocument/2006/relationships/image" Target="/ppt/media/image.svg" Id="Rceeef6a854fd4f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d897d46cd4adb" /><Relationship Type="http://schemas.openxmlformats.org/officeDocument/2006/relationships/image" Target="/ppt/media/image3.png" Id="R37a290b02ad345aa" /><Relationship Type="http://schemas.openxmlformats.org/officeDocument/2006/relationships/image" Target="/ppt/media/image.svg" Id="R046de5e2a66a4e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2636fadb44d06" /><Relationship Type="http://schemas.openxmlformats.org/officeDocument/2006/relationships/image" Target="/ppt/media/image3.png" Id="R0293718adf99451d" /><Relationship Type="http://schemas.openxmlformats.org/officeDocument/2006/relationships/image" Target="/ppt/media/image.svg" Id="Rcd53cde0c4a64a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b11131e9844a5" /><Relationship Type="http://schemas.openxmlformats.org/officeDocument/2006/relationships/image" Target="/ppt/media/image3.png" Id="R148374737894447d" /><Relationship Type="http://schemas.openxmlformats.org/officeDocument/2006/relationships/image" Target="/ppt/media/image.svg" Id="Rc1556f6d204d49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ef39032eb402b" /><Relationship Type="http://schemas.openxmlformats.org/officeDocument/2006/relationships/image" Target="/ppt/media/image3.png" Id="R871a2744b50a450e" /><Relationship Type="http://schemas.openxmlformats.org/officeDocument/2006/relationships/image" Target="/ppt/media/image.svg" Id="R82c917b9069143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0d29a7c9d49e2" /><Relationship Type="http://schemas.openxmlformats.org/officeDocument/2006/relationships/image" Target="/ppt/media/image3.png" Id="Rd56bc3b0d05b4d4c" /><Relationship Type="http://schemas.openxmlformats.org/officeDocument/2006/relationships/image" Target="/ppt/media/image.svg" Id="R8711f086e50f484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f683de065406c" /><Relationship Type="http://schemas.openxmlformats.org/officeDocument/2006/relationships/image" Target="/ppt/media/image3.png" Id="R32347c26a7b54dfd" /><Relationship Type="http://schemas.openxmlformats.org/officeDocument/2006/relationships/image" Target="/ppt/media/image.svg" Id="Rc11a8178a68447b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4ab00b7d84917" /><Relationship Type="http://schemas.openxmlformats.org/officeDocument/2006/relationships/image" Target="/ppt/media/image3.png" Id="Rb726238e1c1545e2" /><Relationship Type="http://schemas.openxmlformats.org/officeDocument/2006/relationships/image" Target="/ppt/media/image.svg" Id="Rcff9e186346143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3714deb804b2d" /><Relationship Type="http://schemas.openxmlformats.org/officeDocument/2006/relationships/image" Target="/ppt/media/image3.png" Id="Ra6ccaf52c0a8485d" /><Relationship Type="http://schemas.openxmlformats.org/officeDocument/2006/relationships/image" Target="/ppt/media/image.svg" Id="R5b801edf8f9b46a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99cc8815743a3" /><Relationship Type="http://schemas.openxmlformats.org/officeDocument/2006/relationships/image" Target="/ppt/media/image3.png" Id="Ra9692307c8d14e7c" /><Relationship Type="http://schemas.openxmlformats.org/officeDocument/2006/relationships/image" Target="/ppt/media/image.svg" Id="R8f926b2a94bc48e3" /></Relationships>
</file>

<file path=ppt/slideLayouts/slideLayout1.xml><?xml version="1.0" encoding="utf-8"?>
<p:sldLayout xmlns:p="http://schemas.openxmlformats.org/presentationml/2006/main" type="title" preserve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1ac1f904fe56477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4E4C540-99BD-BF38-98B3-1AC5E57B4E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8145A546-3457-10EB-BA8F-D7CFD20006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01CFF4A4-FF24-E1BC-698E-EDC8F1ACD8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E0A18D5-E1C0-2BEB-5D97-3482EEDE5E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3291FA2-D5EE-B700-8734-02ADADBE42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14CE04C-1DCD-E07D-441F-2687A633B9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89F931A-4ADB-88C6-5A2F-156A821590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0839C406-6FEF-C8CF-D8BE-919DE15B69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9D983B5-09AA-3BF2-14E7-7154ED97BC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381EE3F-1131-4E31-F669-18D1A8581F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77A02736-18DA-515E-4A7A-BBE68191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3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C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313EAB1-C6AF-FC88-06FD-46A944C3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822000"/>
            <a:ext cx="12192000" cy="36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F94C3C"/>
              </a:gs>
              <a:gs pos="100000">
                <a:srgbClr val="64AFC9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Рисунок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edd24ea4f4e03">
            <a:extLst>
              <a:ext uri="{96DAC541-7B7A-43D3-8B79-37D633B846F1}">
                <asvg:svgBlip xmlns:asvg="http://schemas.microsoft.com/office/drawing/2016/SVG/main" r:embed="Rceeef6a854fd4f0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7099" y="6321403"/>
            <a:ext cx="1007657" cy="3470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C1BF967-F33C-7E84-5689-D9BA02FF4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19B2863C-F806-95E6-0A07-9EB5AF57F5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B17588C4-458F-0C73-AC7D-876FA6AFD3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F1940D1-C6C7-7969-0D9B-EB8B0DFC18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3135CDA-BC4D-C38A-DBA5-37AEB342B7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03C75616-EE1F-A0F7-F681-A2E174DB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3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C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B768826E-C0EA-A286-5540-0DA013CF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822000"/>
            <a:ext cx="12192000" cy="36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F94C3C"/>
              </a:gs>
              <a:gs pos="100000">
                <a:srgbClr val="64AFC9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290b02ad345aa">
            <a:extLst>
              <a:ext uri="{96DAC541-7B7A-43D3-8B79-37D633B846F1}">
                <asvg:svgBlip xmlns:asvg="http://schemas.microsoft.com/office/drawing/2016/SVG/main" r:embed="R046de5e2a66a4e6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7099" y="6321403"/>
            <a:ext cx="1007657" cy="3470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B671133-7D4C-F130-BC93-D54390645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8BCD9E9E-7FF8-B2B6-766F-B6AC4BEB95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DDCAA425-A45B-7196-8560-A21C515A7D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FFA2D7A5-D04B-A51E-F59C-63670F983C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01D7547C-C96A-C8C6-69C8-3068616110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0683C7A4-9497-45CC-5183-CA0240E7F8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EC6086AE-0EAC-966F-36E6-EE54028C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3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C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49184350-4E28-DD73-E8B2-5E3E3F1C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822000"/>
            <a:ext cx="12192000" cy="36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F94C3C"/>
              </a:gs>
              <a:gs pos="100000">
                <a:srgbClr val="64AFC9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3718adf99451d">
            <a:extLst>
              <a:ext uri="{96DAC541-7B7A-43D3-8B79-37D633B846F1}">
                <asvg:svgBlip xmlns:asvg="http://schemas.microsoft.com/office/drawing/2016/SVG/main" r:embed="Rcd53cde0c4a64a6f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7099" y="6321403"/>
            <a:ext cx="1007657" cy="3470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C1822D2-F8C1-AAD1-2776-C0783E1468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F760FFD9-BEF5-C0D9-7361-BEFC9FBDFA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B81B3CF6-47BF-A797-35CF-C381F9420D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7CBE549E-AB61-A979-9314-90F9684057E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27199A87-2468-D97B-7528-D5AB85F5614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 xmlns:a="http://schemas.openxmlformats.org/drawingml/2006/main">
              <a:ext uri="{FF2B5EF4-FFF2-40B4-BE49-F238E27FC236}">
                <a16:creationId xmlns:a16="http://schemas.microsoft.com/office/drawing/2014/main" id="{2C5AA5A2-F72F-E6FB-2FB2-CBB6C40AA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8" name="Нижний колонтитул 7">
            <a:extLst xmlns:a="http://schemas.openxmlformats.org/drawingml/2006/main">
              <a:ext uri="{FF2B5EF4-FFF2-40B4-BE49-F238E27FC236}">
                <a16:creationId xmlns:a16="http://schemas.microsoft.com/office/drawing/2014/main" id="{F9D0C5DB-146B-6955-67C8-497DCF7496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E2986391-1F8B-58C3-1821-7CEBAA39D5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CA0D4062-4301-D26A-F7C6-9A5819D2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3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C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85EB1609-599A-914B-024D-B43E8937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822000"/>
            <a:ext cx="12192000" cy="36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F94C3C"/>
              </a:gs>
              <a:gs pos="100000">
                <a:srgbClr val="64AFC9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8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374737894447d">
            <a:extLst>
              <a:ext uri="{96DAC541-7B7A-43D3-8B79-37D633B846F1}">
                <asvg:svgBlip xmlns:asvg="http://schemas.microsoft.com/office/drawing/2016/SVG/main" r:embed="Rc1556f6d204d49b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7099" y="6321403"/>
            <a:ext cx="1007657" cy="3470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B177EF3-4527-4E49-7D32-72D0350E6F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Дата 2">
            <a:extLst xmlns:a="http://schemas.openxmlformats.org/drawingml/2006/main">
              <a:ext uri="{FF2B5EF4-FFF2-40B4-BE49-F238E27FC236}">
                <a16:creationId xmlns:a16="http://schemas.microsoft.com/office/drawing/2014/main" id="{7316C696-A065-CD27-4ED2-9E33C11AA3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4" name="Нижний колонтитул 3">
            <a:extLst xmlns:a="http://schemas.openxmlformats.org/drawingml/2006/main">
              <a:ext uri="{FF2B5EF4-FFF2-40B4-BE49-F238E27FC236}">
                <a16:creationId xmlns:a16="http://schemas.microsoft.com/office/drawing/2014/main" id="{DEAD8927-FEB6-13A5-1416-B4A5ECA04B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Номер слайда 4">
            <a:extLst xmlns:a="http://schemas.openxmlformats.org/drawingml/2006/main">
              <a:ext uri="{FF2B5EF4-FFF2-40B4-BE49-F238E27FC236}">
                <a16:creationId xmlns:a16="http://schemas.microsoft.com/office/drawing/2014/main" id="{7A8F3BDA-B1D2-FAA1-51E1-1B7E67FC9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8194AE7-5225-B135-CA25-37A0C30F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3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C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089EA8C-2BB3-72A3-4062-B277DEB7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822000"/>
            <a:ext cx="12192000" cy="36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F94C3C"/>
              </a:gs>
              <a:gs pos="100000">
                <a:srgbClr val="64AFC9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a2744b50a450e">
            <a:extLst>
              <a:ext uri="{96DAC541-7B7A-43D3-8B79-37D633B846F1}">
                <asvg:svgBlip xmlns:asvg="http://schemas.microsoft.com/office/drawing/2016/SVG/main" r:embed="R82c917b9069143d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7099" y="6321403"/>
            <a:ext cx="1007657" cy="3470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1">
            <a:extLst xmlns:a="http://schemas.openxmlformats.org/drawingml/2006/main">
              <a:ext uri="{FF2B5EF4-FFF2-40B4-BE49-F238E27FC236}">
                <a16:creationId xmlns:a16="http://schemas.microsoft.com/office/drawing/2014/main" id="{83683818-84FA-9D15-0B39-F17B8605FB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3" name="Нижний колонтитул 2">
            <a:extLst xmlns:a="http://schemas.openxmlformats.org/drawingml/2006/main">
              <a:ext uri="{FF2B5EF4-FFF2-40B4-BE49-F238E27FC236}">
                <a16:creationId xmlns:a16="http://schemas.microsoft.com/office/drawing/2014/main" id="{A611E2CC-E40D-DDCE-A46F-991B09E3B5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B759FD2C-3CB7-5D6F-CBCC-AFB05D36C1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FA81A1FC-0526-24F3-66EC-EFA35B62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3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C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F3C635E0-243A-087C-4259-4A4B816F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822000"/>
            <a:ext cx="12192000" cy="36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F94C3C"/>
              </a:gs>
              <a:gs pos="100000">
                <a:srgbClr val="64AFC9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8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bc3b0d05b4d4c">
            <a:extLst>
              <a:ext uri="{96DAC541-7B7A-43D3-8B79-37D633B846F1}">
                <asvg:svgBlip xmlns:asvg="http://schemas.microsoft.com/office/drawing/2016/SVG/main" r:embed="R8711f086e50f484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7099" y="6321403"/>
            <a:ext cx="1007657" cy="3470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3338E01-33EA-5A76-753F-F92948080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631EC4E5-DA3D-2BFE-4867-83DAF6251C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D21CD6B-B369-C2EE-40F3-DAFDD91BF8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A0D24522-C5BE-CF1D-4D89-6CA1893189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1EE23518-45CA-1816-AD70-75698F26A4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4043A2B0-8CD3-9367-B393-70033254C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C4BAF57D-B851-C0E1-CE07-EE175583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3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C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93428735-3C44-2376-3844-90FD2B0F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822000"/>
            <a:ext cx="12192000" cy="36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F94C3C"/>
              </a:gs>
              <a:gs pos="100000">
                <a:srgbClr val="64AFC9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47c26a7b54dfd">
            <a:extLst>
              <a:ext uri="{96DAC541-7B7A-43D3-8B79-37D633B846F1}">
                <asvg:svgBlip xmlns:asvg="http://schemas.microsoft.com/office/drawing/2016/SVG/main" r:embed="Rc11a8178a68447b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7099" y="6321403"/>
            <a:ext cx="1007657" cy="3470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59C8720-5CE8-2C7D-7964-A8FD2FB514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627F4031-AFEE-055B-FAAD-48135152C84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58E974F-3406-E45D-7FD0-23B7733FD4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3C9F2F70-DA7D-DD22-C8FA-0D47FC8801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3D36B842-4B0C-2722-0BC1-3DA4103F54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0DA70FF4-7187-306A-9ADA-397687673D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21C34077-8607-CA8B-B271-64BCA14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3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C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E0E7CAD2-12B9-D09B-93DD-560571EE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822000"/>
            <a:ext cx="12192000" cy="36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F94C3C"/>
              </a:gs>
              <a:gs pos="100000">
                <a:srgbClr val="64AFC9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6238e1c1545e2">
            <a:extLst>
              <a:ext uri="{96DAC541-7B7A-43D3-8B79-37D633B846F1}">
                <asvg:svgBlip xmlns:asvg="http://schemas.microsoft.com/office/drawing/2016/SVG/main" r:embed="Rcff9e186346143d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7099" y="6321403"/>
            <a:ext cx="1007657" cy="3470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DFB072F-AC84-B697-59BD-401004387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33AD0AE1-C2E5-A74D-F93C-AA4D6FFBC9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2E0D7915-A1C4-769D-114C-749395F121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E78FC8A-DB17-9150-29C1-A2DCDD9586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20FF622-E114-F45D-15D3-9DD1BF8162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14C73C9-5077-49BF-2A23-F3B3CE4C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3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C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93B0FBA4-355E-9284-568A-AE585203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822000"/>
            <a:ext cx="12192000" cy="36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F94C3C"/>
              </a:gs>
              <a:gs pos="100000">
                <a:srgbClr val="64AFC9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Рисунок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caf52c0a8485d">
            <a:extLst>
              <a:ext uri="{96DAC541-7B7A-43D3-8B79-37D633B846F1}">
                <asvg:svgBlip xmlns:asvg="http://schemas.microsoft.com/office/drawing/2016/SVG/main" r:embed="R5b801edf8f9b46a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7099" y="6321403"/>
            <a:ext cx="1007657" cy="3470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C10D42F-A88F-0048-1A0F-64575B2EA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F7CD7280-5A6F-B344-2238-7C523ED252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00ED0F5A-AD33-FC9C-C81F-1FE917C6E7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E8B6F846-CA04-E3BD-2365-60083FC2F5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A9CF965-A4D6-4028-42CD-B3C9BD89AF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DFB13A9A-B6E6-6B42-FB2E-26BEAEC5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3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C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261DF568-ECBA-9DA4-9F08-30890DA3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822000"/>
            <a:ext cx="12192000" cy="36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F94C3C"/>
              </a:gs>
              <a:gs pos="100000">
                <a:srgbClr val="64AFC9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Рисунок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92307c8d14e7c">
            <a:extLst>
              <a:ext uri="{96DAC541-7B7A-43D3-8B79-37D633B846F1}">
                <asvg:svgBlip xmlns:asvg="http://schemas.microsoft.com/office/drawing/2016/SVG/main" r:embed="R8f926b2a94bc48e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7099" y="6321403"/>
            <a:ext cx="1007657" cy="34708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0b5f8a82bc4b4d4b" /><Relationship Type="http://schemas.openxmlformats.org/officeDocument/2006/relationships/theme" Target="/ppt/slideMasters/theme/theme2.xml" Id="R4e96afef9fe045a3" /><Relationship Type="http://schemas.openxmlformats.org/officeDocument/2006/relationships/slideLayout" Target="/ppt/slideLayouts/slideLayout1.xml" Id="Rb3374b71b3c24a38" /><Relationship Type="http://schemas.openxmlformats.org/officeDocument/2006/relationships/slideLayout" Target="/ppt/slideLayouts/slideLayout2.xml" Id="R66ccfcda3be041d4" /><Relationship Type="http://schemas.openxmlformats.org/officeDocument/2006/relationships/slideLayout" Target="/ppt/slideLayouts/slideLayout3.xml" Id="Rcda50e06af9244a8" /><Relationship Type="http://schemas.openxmlformats.org/officeDocument/2006/relationships/slideLayout" Target="/ppt/slideLayouts/slideLayout4.xml" Id="R0225f5c56f3a4666" /><Relationship Type="http://schemas.openxmlformats.org/officeDocument/2006/relationships/slideLayout" Target="/ppt/slideLayouts/slideLayout5.xml" Id="Rbb27e34b6d994f77" /><Relationship Type="http://schemas.openxmlformats.org/officeDocument/2006/relationships/slideLayout" Target="/ppt/slideLayouts/slideLayout6.xml" Id="R60c1a0ba8f6243ac" /><Relationship Type="http://schemas.openxmlformats.org/officeDocument/2006/relationships/slideLayout" Target="/ppt/slideLayouts/slideLayout7.xml" Id="R1e2c3210288a49b1" /><Relationship Type="http://schemas.openxmlformats.org/officeDocument/2006/relationships/slideLayout" Target="/ppt/slideLayouts/slideLayout8.xml" Id="Re076e71fea3946f3" /><Relationship Type="http://schemas.openxmlformats.org/officeDocument/2006/relationships/slideLayout" Target="/ppt/slideLayouts/slideLayout9.xml" Id="R5f1fb13fa21a4b52" /><Relationship Type="http://schemas.openxmlformats.org/officeDocument/2006/relationships/slideLayout" Target="/ppt/slideLayouts/slideLayout10.xml" Id="Re1b62ab00cec4b8a" /><Relationship Type="http://schemas.openxmlformats.org/officeDocument/2006/relationships/slideLayout" Target="/ppt/slideLayouts/slideLayout11.xml" Id="Re0c772df1bff4221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b5f8a82bc4b4d4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9337232-528A-C434-F8DB-E4648CE41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923F9BD-AA23-F996-EEC5-0BE4E1C37B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671D84CA-A970-E1FC-3E04-2CB25857C2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CCD2693-DE1D-4C8B-A883-A265820483FE}" type="datetimeFigureOut">
              <a:t>07.08.2026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789E05F-7E52-805A-1639-99CB0B939C3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A843501-2F93-E668-2474-D0DBC31DC2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86A93D5-4847-4033-9AFA-3C276E0C3F0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374b71b3c24a38"/>
    <p:sldLayoutId xmlns:r="http://schemas.openxmlformats.org/officeDocument/2006/relationships" id="2147483650" r:id="R66ccfcda3be041d4"/>
    <p:sldLayoutId xmlns:r="http://schemas.openxmlformats.org/officeDocument/2006/relationships" id="2147483651" r:id="Rcda50e06af9244a8"/>
    <p:sldLayoutId xmlns:r="http://schemas.openxmlformats.org/officeDocument/2006/relationships" id="2147483652" r:id="R0225f5c56f3a4666"/>
    <p:sldLayoutId xmlns:r="http://schemas.openxmlformats.org/officeDocument/2006/relationships" id="2147483653" r:id="Rbb27e34b6d994f77"/>
    <p:sldLayoutId xmlns:r="http://schemas.openxmlformats.org/officeDocument/2006/relationships" id="2147483654" r:id="R60c1a0ba8f6243ac"/>
    <p:sldLayoutId xmlns:r="http://schemas.openxmlformats.org/officeDocument/2006/relationships" id="2147483655" r:id="R1e2c3210288a49b1"/>
    <p:sldLayoutId xmlns:r="http://schemas.openxmlformats.org/officeDocument/2006/relationships" id="2147483656" r:id="Re076e71fea3946f3"/>
    <p:sldLayoutId xmlns:r="http://schemas.openxmlformats.org/officeDocument/2006/relationships" id="2147483657" r:id="R5f1fb13fa21a4b52"/>
    <p:sldLayoutId xmlns:r="http://schemas.openxmlformats.org/officeDocument/2006/relationships" id="2147483658" r:id="Re1b62ab00cec4b8a"/>
    <p:sldLayoutId xmlns:r="http://schemas.openxmlformats.org/officeDocument/2006/relationships" id="2147483659" r:id="Re0c772df1bff422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84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41fdbb6ef4c42" /><Relationship Type="http://schemas.openxmlformats.org/officeDocument/2006/relationships/image" Target="/ppt/media/image4.png" Id="R3d4aa62ab5c94fc1" /><Relationship Type="http://schemas.openxmlformats.org/officeDocument/2006/relationships/image" Target="/ppt/media/image2.svg" Id="R5527d525fc244e59" /><Relationship Type="http://schemas.openxmlformats.org/officeDocument/2006/relationships/image" Target="/ppt/media/image5.png" Id="Ra4f0e23c91be44ab" /><Relationship Type="http://schemas.openxmlformats.org/officeDocument/2006/relationships/image" Target="/ppt/media/image3.svg" Id="Rcc349364bb1f44d2" /><Relationship Type="http://schemas.openxmlformats.org/officeDocument/2006/relationships/notesSlide" Target="/ppt/notesSlides/notesSlide1.xml" Id="R15b3cb8a732040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e4c9bf81e44d29" /><Relationship Type="http://schemas.openxmlformats.org/officeDocument/2006/relationships/image" Target="/ppt/media/image5.png" Id="R22a9b0413d574c82" /><Relationship Type="http://schemas.openxmlformats.org/officeDocument/2006/relationships/image" Target="/ppt/media/image3.svg" Id="Ra0c0d4b9d8a045c8" /><Relationship Type="http://schemas.openxmlformats.org/officeDocument/2006/relationships/notesSlide" Target="/ppt/notesSlides/notesSlide2.xml" Id="R2941b98943b74a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ac67dbedab471e" /><Relationship Type="http://schemas.openxmlformats.org/officeDocument/2006/relationships/notesSlide" Target="/ppt/notesSlides/notesSlide3.xml" Id="R11e6ef5576ad48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fb74cf61f64c70" /><Relationship Type="http://schemas.openxmlformats.org/officeDocument/2006/relationships/notesSlide" Target="/ppt/notesSlides/notesSlide4.xml" Id="Ra5bbc99b16034b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204d0172544e9f" /><Relationship Type="http://schemas.openxmlformats.org/officeDocument/2006/relationships/notesSlide" Target="/ppt/notesSlides/notesSlide5.xml" Id="Refe7160bc4604f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f82cb0a54541bd" /><Relationship Type="http://schemas.openxmlformats.org/officeDocument/2006/relationships/notesSlide" Target="/ppt/notesSlides/notesSlide6.xml" Id="Rb93bcb8ebc1f45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99599c26c4496f" /><Relationship Type="http://schemas.openxmlformats.org/officeDocument/2006/relationships/notesSlide" Target="/ppt/notesSlides/notesSlide7.xml" Id="Reaa69d0dad5047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118264eff54908" /><Relationship Type="http://schemas.openxmlformats.org/officeDocument/2006/relationships/notesSlide" Target="/ppt/notesSlides/notesSlide8.xml" Id="R48b043662ede46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cf2b340bf643cf" /><Relationship Type="http://schemas.openxmlformats.org/officeDocument/2006/relationships/notesSlide" Target="/ppt/notesSlides/notesSlide9.xml" Id="R1cd337f844984d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89b2ad81a3400e" /><Relationship Type="http://schemas.openxmlformats.org/officeDocument/2006/relationships/image" Target="/ppt/media/image5.png" Id="R45d0714475054ea7" /><Relationship Type="http://schemas.openxmlformats.org/officeDocument/2006/relationships/image" Target="/ppt/media/image3.svg" Id="Rca77efb036574a69" /><Relationship Type="http://schemas.openxmlformats.org/officeDocument/2006/relationships/notesSlide" Target="/ppt/notesSlides/notesSlide10.xml" Id="R9a52d573011c46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8986d6471442f" /><Relationship Type="http://schemas.openxmlformats.org/officeDocument/2006/relationships/image" Target="/ppt/media/image6.png" Id="Re7c0b63adcbc4732" /><Relationship Type="http://schemas.openxmlformats.org/officeDocument/2006/relationships/image" Target="/ppt/media/image4.png" Id="R89f6af68e7ce4bd8" /><Relationship Type="http://schemas.openxmlformats.org/officeDocument/2006/relationships/image" Target="/ppt/media/image2.svg" Id="R5944d8f0491345c0" /><Relationship Type="http://schemas.openxmlformats.org/officeDocument/2006/relationships/notesSlide" Target="/ppt/notesSlides/notesSlide11.xml" Id="R926cf59f5cfe41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aa62ab5c94fc1">
            <a:extLst>
              <a:ext uri="{96DAC541-7B7A-43D3-8B79-37D633B846F1}">
                <asvg:svgBlip xmlns:asvg="http://schemas.microsoft.com/office/drawing/2016/SVG/main" r:embed="R5527d525fc244e5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27448" y="548680"/>
            <a:ext cx="2090554" cy="7200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13AA048-B029-E586-132D-71A2338F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40" y="2060848"/>
            <a:ext cx="7920880" cy="24006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Запускаем call-center</a:t>
            </a:r>
          </a:p>
          <a:p xmlns:a="http://schemas.openxmlformats.org/drawingml/2006/main">
            <a:r>
              <a:rPr sz="50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на FreeSWITCH</a:t>
            </a:r>
          </a:p>
        </p:txBody>
      </p:sp>
      <p:pic>
        <p:nvPicPr>
          <p:cNvPr id="10" name="Рисунок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0e23c91be44ab">
            <a:extLst>
              <a:ext uri="{96DAC541-7B7A-43D3-8B79-37D633B846F1}">
                <asvg:svgBlip xmlns:asvg="http://schemas.microsoft.com/office/drawing/2016/SVG/main" r:embed="Rcc349364bb1f44d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448" y="4797152"/>
            <a:ext cx="2004592" cy="216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051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E04104B-AA6E-A47B-0161-499B4DD8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760" y="2005097"/>
            <a:ext cx="7560840" cy="22159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spcAft>
                <a:spcPts val="1800"/>
              </a:spcAft>
              <a:buClr>
                <a:srgbClr val="F94C3C"/>
              </a:buClr>
              <a:buFont typeface="Arial"/>
              <a:buChar char="•"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Соберём работающий call-center с нуля: FreeSWITCH, два SIP-телефона и очередь оператора.</a:t>
            </a:r>
          </a:p>
          <a:p xmlns:a="http://schemas.openxmlformats.org/drawingml/2006/main">
            <a:pPr marL="285750" indent="-285750">
              <a:spcAft>
                <a:spcPts val="1800"/>
              </a:spcAft>
              <a:buClr>
                <a:srgbClr val="F94C3C"/>
              </a:buClr>
              <a:buFont typeface="Arial"/>
              <a:buChar char="•"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Одинаковую задачу параллельно решают ведущий и автономный агент — в разных WSL-инстансах.</a:t>
            </a:r>
          </a:p>
          <a:p xmlns:a="http://schemas.openxmlformats.org/drawingml/2006/main">
            <a:pPr marL="285750" indent="-285750">
              <a:spcAft>
                <a:spcPts val="1800"/>
              </a:spcAft>
              <a:buClr>
                <a:srgbClr val="F94C3C"/>
              </a:buClr>
              <a:buFont typeface="Arial"/>
              <a:buChar char="•"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Критерий результата: вызов проходит в очередь, оператор отвечает, голос слышен в обе стороны.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D12D5BB-9F2F-0FE4-2D74-008B8D34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760" y="620688"/>
            <a:ext cx="792088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Проблематика мастер-класса: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7BA977-BC10-C1CA-BE5B-FF9575FE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3522494"/>
            <a:ext cx="3240360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Борисов</a:t>
            </a:r>
          </a:p>
          <a:p xmlns:a="http://schemas.openxmlformats.org/drawingml/2006/main">
            <a:r>
              <a:rPr sz="24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Дмитрий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CE6C19D-0DD6-F9D5-ABD0-0EDC956A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4377298"/>
            <a:ext cx="324036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Разработчик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796E6CA-7840-B7D9-6DAD-10812C86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4746630"/>
            <a:ext cx="324036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Вольный торговец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E49D2E-F082-E159-37CC-5BA1C7E6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5550331"/>
            <a:ext cx="324036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25 лет в телекоме.</a:t>
            </a:r>
          </a:p>
          <a:p xmlns:a="http://schemas.openxmlformats.org/drawingml/2006/main">
            <a:r>
              <a:rPr sz="120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От интеграции до разработки сетевых платформ.</a:t>
            </a:r>
          </a:p>
        </p:txBody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DCF5E0A1-3E33-48E8-82F8-7D27005B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5406315"/>
            <a:ext cx="79208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94C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Овал 11">
            <a:extLst xmlns:a="http://schemas.openxmlformats.org/drawingml/2006/main">
              <a:ext uri="{FF2B5EF4-FFF2-40B4-BE49-F238E27FC236}">
                <a16:creationId xmlns:a16="http://schemas.microsoft.com/office/drawing/2014/main" id="{D4D091D4-F89F-4B29-1F12-F6AA15A0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548680"/>
            <a:ext cx="2880320" cy="2880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3" name="Рисунок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9b0413d574c82">
            <a:extLst>
              <a:ext uri="{96DAC541-7B7A-43D3-8B79-37D633B846F1}">
                <asvg:svgBlip xmlns:asvg="http://schemas.microsoft.com/office/drawing/2016/SVG/main" r:embed="Ra0c0d4b9d8a045c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7768" y="1339027"/>
            <a:ext cx="1352550" cy="145757"/>
          </a:xfrm>
          <a:prstGeom xmlns:a="http://schemas.openxmlformats.org/drawingml/2006/main" prst="rect">
            <a:avLst/>
          </a:prstGeom>
        </p:spPr>
      </p:pic>
      <p:sp>
        <p:nvSpPr>
          <p:cNvPr id="14" name="speaker-initials">
            <a:extLst xmlns:a="http://schemas.openxmlformats.org/drawingml/2006/main">
              <a:ext uri="{FF2B5EF4-FFF2-40B4-BE49-F238E27FC236}">
                <a16:creationId xmlns:a16="http://schemas.microsoft.com/office/drawing/2014/main" id="{CF2B56C2-496F-4F4F-AC76-F94DE7D5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381125"/>
            <a:ext cx="133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B2F2C"/>
                </a:solidFill>
                <a:latin typeface="Montserrat"/>
                <a:ea typeface="Montserrat"/>
                <a:cs typeface="Montserrat"/>
              </a:defRPr>
            </a:pPr>
            <a:r>
              <a:rPr sz="5250" b="1">
                <a:solidFill>
                  <a:srgbClr val="4B2F2C"/>
                </a:solidFill>
                <a:latin typeface="Montserrat"/>
                <a:ea typeface="Montserrat"/>
                <a:cs typeface="Montserrat"/>
              </a:rPr>
              <a:t>ДБ</a:t>
            </a:r>
          </a:p>
        </p:txBody>
      </p:sp>
    </p:spTree>
    <p:extLst>
      <p:ext uri="{BB962C8B-B14F-4D97-AF65-F5344CB8AC3E}">
        <p14:creationId xmlns:p14="http://schemas.microsoft.com/office/powerpoint/2010/main" val="8017991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47662140-5431-4E56-A83F-DF2D3883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3875"/>
            <a:ext cx="1104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 собираем</a:t>
            </a:r>
          </a:p>
        </p:txBody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2D7483DA-454A-4F8D-B109-318D7222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146"/>
          </a:solidFill>
          <a:ln xmlns:a="http://schemas.openxmlformats.org/drawingml/2006/main" w="0">
            <a:noFill/>
          </a:ln>
        </p:spPr>
      </p:sp>
      <p:sp>
        <p:nvSpPr>
          <p:cNvPr id="3" name="time">
            <a:extLst xmlns:a="http://schemas.openxmlformats.org/drawingml/2006/main">
              <a:ext uri="{FF2B5EF4-FFF2-40B4-BE49-F238E27FC236}">
                <a16:creationId xmlns:a16="http://schemas.microsoft.com/office/drawing/2014/main" id="{0E6AFAC3-9A2E-435F-84E8-D391B26D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0–5 мин</a:t>
            </a:r>
          </a:p>
        </p:txBody>
      </p:sp>
      <p:sp>
        <p:nvSpPr>
          <p:cNvPr id="4" name="caller">
            <a:extLst xmlns:a="http://schemas.openxmlformats.org/drawingml/2006/main">
              <a:ext uri="{FF2B5EF4-FFF2-40B4-BE49-F238E27FC236}">
                <a16:creationId xmlns:a16="http://schemas.microsoft.com/office/drawing/2014/main" id="{9F082946-0D38-4358-AF22-07678DE6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762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5" name="pbx">
            <a:extLst xmlns:a="http://schemas.openxmlformats.org/drawingml/2006/main">
              <a:ext uri="{FF2B5EF4-FFF2-40B4-BE49-F238E27FC236}">
                <a16:creationId xmlns:a16="http://schemas.microsoft.com/office/drawing/2014/main" id="{8E241701-4DAA-43B0-A46B-A4A7FE4D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52625"/>
            <a:ext cx="28003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6B423A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6" name="operator">
            <a:extLst xmlns:a="http://schemas.openxmlformats.org/drawingml/2006/main">
              <a:ext uri="{FF2B5EF4-FFF2-40B4-BE49-F238E27FC236}">
                <a16:creationId xmlns:a16="http://schemas.microsoft.com/office/drawing/2014/main" id="{A80C9426-0B7D-4CCF-8EAB-D5F5B6C9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52625"/>
            <a:ext cx="2762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7" name="caller-text">
            <a:extLst xmlns:a="http://schemas.openxmlformats.org/drawingml/2006/main">
              <a:ext uri="{FF2B5EF4-FFF2-40B4-BE49-F238E27FC236}">
                <a16:creationId xmlns:a16="http://schemas.microsoft.com/office/drawing/2014/main" id="{68B2E620-1FC3-4252-A10F-66B66AF2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MicroSIP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1000 · звонящий</a:t>
            </a:r>
          </a:p>
        </p:txBody>
      </p:sp>
      <p:sp>
        <p:nvSpPr>
          <p:cNvPr id="8" name="pbx-text">
            <a:extLst xmlns:a="http://schemas.openxmlformats.org/drawingml/2006/main">
              <a:ext uri="{FF2B5EF4-FFF2-40B4-BE49-F238E27FC236}">
                <a16:creationId xmlns:a16="http://schemas.microsoft.com/office/drawing/2014/main" id="{4B34B306-C07F-4D6B-9210-DDA00D8B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95500"/>
            <a:ext cx="2419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FreeSWITCH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SIP + RTP</a:t>
            </a:r>
          </a:p>
        </p:txBody>
      </p:sp>
      <p:sp>
        <p:nvSpPr>
          <p:cNvPr id="9" name="operator-text">
            <a:extLst xmlns:a="http://schemas.openxmlformats.org/drawingml/2006/main">
              <a:ext uri="{FF2B5EF4-FFF2-40B4-BE49-F238E27FC236}">
                <a16:creationId xmlns:a16="http://schemas.microsoft.com/office/drawing/2014/main" id="{282B2034-2607-4568-A7B8-EB5F0147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MicroSIP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1001 · оператор</a:t>
            </a:r>
          </a:p>
        </p:txBody>
      </p:sp>
      <p:sp>
        <p:nvSpPr>
          <p:cNvPr id="10" name="arrow-1">
            <a:extLst xmlns:a="http://schemas.openxmlformats.org/drawingml/2006/main">
              <a:ext uri="{FF2B5EF4-FFF2-40B4-BE49-F238E27FC236}">
                <a16:creationId xmlns:a16="http://schemas.microsoft.com/office/drawing/2014/main" id="{3DDD118A-3586-4AE6-A4D7-977B434A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86000"/>
            <a:ext cx="70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07BA834E-55CF-4F7E-B1CF-D936E0AD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70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2" name="routes">
            <a:extLst xmlns:a="http://schemas.openxmlformats.org/drawingml/2006/main">
              <a:ext uri="{FF2B5EF4-FFF2-40B4-BE49-F238E27FC236}">
                <a16:creationId xmlns:a16="http://schemas.microsoft.com/office/drawing/2014/main" id="{A99B431F-E8BA-435E-8023-0051CBF7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109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4E312D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13" name="route-1">
            <a:extLst xmlns:a="http://schemas.openxmlformats.org/drawingml/2006/main">
              <a:ext uri="{FF2B5EF4-FFF2-40B4-BE49-F238E27FC236}">
                <a16:creationId xmlns:a16="http://schemas.microsoft.com/office/drawing/2014/main" id="{BE52437B-6783-47A1-B7E2-E1E1ED94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9906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1000 → 1001   прямой вызов</a:t>
            </a:r>
          </a:p>
        </p:txBody>
      </p:sp>
      <p:sp>
        <p:nvSpPr>
          <p:cNvPr id="14" name="route-2">
            <a:extLst xmlns:a="http://schemas.openxmlformats.org/drawingml/2006/main">
              <a:ext uri="{FF2B5EF4-FFF2-40B4-BE49-F238E27FC236}">
                <a16:creationId xmlns:a16="http://schemas.microsoft.com/office/drawing/2014/main" id="{254AD35B-35CB-4CDC-A2AE-BBA8D69C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1000 → 7000   очередь support@default → оператор 1001</a:t>
            </a:r>
          </a:p>
        </p:txBody>
      </p:sp>
      <p:sp>
        <p:nvSpPr>
          <p:cNvPr id="15" name="route-3">
            <a:extLst xmlns:a="http://schemas.openxmlformats.org/drawingml/2006/main">
              <a:ext uri="{FF2B5EF4-FFF2-40B4-BE49-F238E27FC236}">
                <a16:creationId xmlns:a16="http://schemas.microsoft.com/office/drawing/2014/main" id="{47E75140-5973-4ABE-AD1D-7CDD217C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7100 → science-bot@default → 1002   подготовим, подключим позже</a:t>
            </a:r>
          </a:p>
        </p:txBody>
      </p:sp>
    </p:spTree>
    <p:extLst>
      <p:ext uri="{BB962C8B-B14F-4D97-AF65-F5344CB8AC3E}">
        <p14:creationId xmlns:p14="http://schemas.microsoft.com/office/powerpoint/2010/main" val="39402000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1D912A34-D3D4-47AD-A40C-EE49D91B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3875"/>
            <a:ext cx="1104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Две дорожки, один результат</a:t>
            </a:r>
          </a:p>
        </p:txBody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7E56B9BE-1A76-4397-867A-823EAB9C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146"/>
          </a:solidFill>
          <a:ln xmlns:a="http://schemas.openxmlformats.org/drawingml/2006/main" w="0">
            <a:noFill/>
          </a:ln>
        </p:spPr>
      </p:sp>
      <p:sp>
        <p:nvSpPr>
          <p:cNvPr id="3" name="time">
            <a:extLst xmlns:a="http://schemas.openxmlformats.org/drawingml/2006/main">
              <a:ext uri="{FF2B5EF4-FFF2-40B4-BE49-F238E27FC236}">
                <a16:creationId xmlns:a16="http://schemas.microsoft.com/office/drawing/2014/main" id="{DBCE11FC-1F36-4832-A1BD-1C600818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до старта</a:t>
            </a:r>
          </a:p>
        </p:txBody>
      </p:sp>
      <p:sp>
        <p:nvSpPr>
          <p:cNvPr id="4" name="human">
            <a:extLst xmlns:a="http://schemas.openxmlformats.org/drawingml/2006/main">
              <a:ext uri="{FF2B5EF4-FFF2-40B4-BE49-F238E27FC236}">
                <a16:creationId xmlns:a16="http://schemas.microsoft.com/office/drawing/2014/main" id="{24216DBE-5664-42C4-98D7-53F27377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197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5" name="agent">
            <a:extLst xmlns:a="http://schemas.openxmlformats.org/drawingml/2006/main">
              <a:ext uri="{FF2B5EF4-FFF2-40B4-BE49-F238E27FC236}">
                <a16:creationId xmlns:a16="http://schemas.microsoft.com/office/drawing/2014/main" id="{7E17D69B-C94D-4574-9359-D8FF1C15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52197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6" name="human-label">
            <a:extLst xmlns:a="http://schemas.openxmlformats.org/drawingml/2006/main">
              <a:ext uri="{FF2B5EF4-FFF2-40B4-BE49-F238E27FC236}">
                <a16:creationId xmlns:a16="http://schemas.microsoft.com/office/drawing/2014/main" id="{659E5F13-254B-4762-A5B1-921FBF1D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955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Ведущий</a:t>
            </a:r>
          </a:p>
        </p:txBody>
      </p:sp>
      <p:sp>
        <p:nvSpPr>
          <p:cNvPr id="7" name="human-list">
            <a:extLst xmlns:a="http://schemas.openxmlformats.org/drawingml/2006/main">
              <a:ext uri="{FF2B5EF4-FFF2-40B4-BE49-F238E27FC236}">
                <a16:creationId xmlns:a16="http://schemas.microsoft.com/office/drawing/2014/main" id="{E7239074-EDBF-4B7D-B15C-BCAC7169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24150"/>
            <a:ext cx="4572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Debian-FS-Human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Настройка вручную на экране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MicroSIP-пара H</a:t>
            </a:r>
          </a:p>
        </p:txBody>
      </p:sp>
      <p:sp>
        <p:nvSpPr>
          <p:cNvPr id="8" name="agent-label">
            <a:extLst xmlns:a="http://schemas.openxmlformats.org/drawingml/2006/main">
              <a:ext uri="{FF2B5EF4-FFF2-40B4-BE49-F238E27FC236}">
                <a16:creationId xmlns:a16="http://schemas.microsoft.com/office/drawing/2014/main" id="{9C6889AA-E83F-40C0-9859-C7FC5B22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955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Агент без контекста</a:t>
            </a:r>
          </a:p>
        </p:txBody>
      </p:sp>
      <p:sp>
        <p:nvSpPr>
          <p:cNvPr id="9" name="agent-list">
            <a:extLst xmlns:a="http://schemas.openxmlformats.org/drawingml/2006/main">
              <a:ext uri="{FF2B5EF4-FFF2-40B4-BE49-F238E27FC236}">
                <a16:creationId xmlns:a16="http://schemas.microsoft.com/office/drawing/2014/main" id="{22FB94C7-4350-49F3-8B36-41343246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24150"/>
            <a:ext cx="4572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Debian-FS-Agent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Та же карта 019 и критерии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MicroSIP-пара A</a:t>
            </a:r>
          </a:p>
        </p:txBody>
      </p:sp>
      <p:sp>
        <p:nvSpPr>
          <p:cNvPr id="10" name="condition">
            <a:extLst xmlns:a="http://schemas.openxmlformats.org/drawingml/2006/main">
              <a:ext uri="{FF2B5EF4-FFF2-40B4-BE49-F238E27FC236}">
                <a16:creationId xmlns:a16="http://schemas.microsoft.com/office/drawing/2014/main" id="{22355ABC-8B3D-41FF-9084-FBE03482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57775"/>
            <a:ext cx="1052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Параллельны подготовка и конфиги; SIP/RTP-проверки — по очереди.</a:t>
            </a:r>
          </a:p>
        </p:txBody>
      </p:sp>
    </p:spTree>
    <p:extLst>
      <p:ext uri="{BB962C8B-B14F-4D97-AF65-F5344CB8AC3E}">
        <p14:creationId xmlns:p14="http://schemas.microsoft.com/office/powerpoint/2010/main" val="42712892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936E1BC8-6671-46E8-B296-11366379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3875"/>
            <a:ext cx="1104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Ставим FreeSWITCH</a:t>
            </a:r>
          </a:p>
        </p:txBody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00E9192D-5861-447C-8377-7ADD8664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146"/>
          </a:solidFill>
          <a:ln xmlns:a="http://schemas.openxmlformats.org/drawingml/2006/main" w="0">
            <a:noFill/>
          </a:ln>
        </p:spPr>
      </p:sp>
      <p:sp>
        <p:nvSpPr>
          <p:cNvPr id="3" name="time">
            <a:extLst xmlns:a="http://schemas.openxmlformats.org/drawingml/2006/main">
              <a:ext uri="{FF2B5EF4-FFF2-40B4-BE49-F238E27FC236}">
                <a16:creationId xmlns:a16="http://schemas.microsoft.com/office/drawing/2014/main" id="{598F0969-A49C-4D84-8C89-8E9F923E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5–15 мин</a:t>
            </a:r>
          </a:p>
        </p:txBody>
      </p:sp>
      <p:sp>
        <p:nvSpPr>
          <p:cNvPr id="4" name="repo">
            <a:extLst xmlns:a="http://schemas.openxmlformats.org/drawingml/2006/main">
              <a:ext uri="{FF2B5EF4-FFF2-40B4-BE49-F238E27FC236}">
                <a16:creationId xmlns:a16="http://schemas.microsoft.com/office/drawing/2014/main" id="{E4430C6E-EABC-4AA0-9B6C-3F80C427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10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5" name="packages">
            <a:extLst xmlns:a="http://schemas.openxmlformats.org/drawingml/2006/main">
              <a:ext uri="{FF2B5EF4-FFF2-40B4-BE49-F238E27FC236}">
                <a16:creationId xmlns:a16="http://schemas.microsoft.com/office/drawing/2014/main" id="{F731B24B-E57E-4E49-B033-5797CAD9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1010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6" name="service">
            <a:extLst xmlns:a="http://schemas.openxmlformats.org/drawingml/2006/main">
              <a:ext uri="{FF2B5EF4-FFF2-40B4-BE49-F238E27FC236}">
                <a16:creationId xmlns:a16="http://schemas.microsoft.com/office/drawing/2014/main" id="{D910DBB1-31E6-4358-A6A6-C20D3D83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1010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7" name="step1">
            <a:extLst xmlns:a="http://schemas.openxmlformats.org/drawingml/2006/main">
              <a:ext uri="{FF2B5EF4-FFF2-40B4-BE49-F238E27FC236}">
                <a16:creationId xmlns:a16="http://schemas.microsoft.com/office/drawing/2014/main" id="{ACF5F8D6-BD4D-44A5-A8E3-A6CD99E2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955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  Подписанный Bookworm-репозиторий   fi.itlnk.ru/freeswitch</a:t>
            </a:r>
          </a:p>
        </p:txBody>
      </p:sp>
      <p:sp>
        <p:nvSpPr>
          <p:cNvPr id="8" name="step2">
            <a:extLst xmlns:a="http://schemas.openxmlformats.org/drawingml/2006/main">
              <a:ext uri="{FF2B5EF4-FFF2-40B4-BE49-F238E27FC236}">
                <a16:creationId xmlns:a16="http://schemas.microsoft.com/office/drawing/2014/main" id="{7240CC03-E8DB-46BC-AAFB-701622B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194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   freeswitch-meta-vanilla  +  freeswitch-mod-callcenter  +  systemd</a:t>
            </a:r>
          </a:p>
        </p:txBody>
      </p:sp>
      <p:sp>
        <p:nvSpPr>
          <p:cNvPr id="9" name="step3">
            <a:extLst xmlns:a="http://schemas.openxmlformats.org/drawingml/2006/main">
              <a:ext uri="{FF2B5EF4-FFF2-40B4-BE49-F238E27FC236}">
                <a16:creationId xmlns:a16="http://schemas.microsoft.com/office/drawing/2014/main" id="{11DD6CAC-2702-4DE0-9BC2-01FB0F72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434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   systemctl enable --now freeswitch   →   fs_cli -x status</a:t>
            </a:r>
          </a:p>
        </p:txBody>
      </p:sp>
      <p:sp>
        <p:nvSpPr>
          <p:cNvPr id="10" name="guard">
            <a:extLst xmlns:a="http://schemas.openxmlformats.org/drawingml/2006/main">
              <a:ext uri="{FF2B5EF4-FFF2-40B4-BE49-F238E27FC236}">
                <a16:creationId xmlns:a16="http://schemas.microsoft.com/office/drawing/2014/main" id="{A4ACAFDE-1428-47B2-A0A8-DA80A9B5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5435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Пакет установлен ≠ модуль загружен ≠ очередь настроена</a:t>
            </a:r>
          </a:p>
        </p:txBody>
      </p:sp>
    </p:spTree>
    <p:extLst>
      <p:ext uri="{BB962C8B-B14F-4D97-AF65-F5344CB8AC3E}">
        <p14:creationId xmlns:p14="http://schemas.microsoft.com/office/powerpoint/2010/main" val="38889234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250B7C62-87C9-41BC-9394-390D90B9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3875"/>
            <a:ext cx="1104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Сначала SIP и звук</a:t>
            </a:r>
          </a:p>
        </p:txBody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A5CC0D74-B046-4EFD-819B-329937EC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146"/>
          </a:solidFill>
          <a:ln xmlns:a="http://schemas.openxmlformats.org/drawingml/2006/main" w="0">
            <a:noFill/>
          </a:ln>
        </p:spPr>
      </p:sp>
      <p:sp>
        <p:nvSpPr>
          <p:cNvPr id="3" name="time">
            <a:extLst xmlns:a="http://schemas.openxmlformats.org/drawingml/2006/main">
              <a:ext uri="{FF2B5EF4-FFF2-40B4-BE49-F238E27FC236}">
                <a16:creationId xmlns:a16="http://schemas.microsoft.com/office/drawing/2014/main" id="{AADE4368-1314-439A-A902-52F8BDA8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15–25 мин</a:t>
            </a:r>
          </a:p>
        </p:txBody>
      </p:sp>
      <p:sp>
        <p:nvSpPr>
          <p:cNvPr id="4" name="left">
            <a:extLst xmlns:a="http://schemas.openxmlformats.org/drawingml/2006/main">
              <a:ext uri="{FF2B5EF4-FFF2-40B4-BE49-F238E27FC236}">
                <a16:creationId xmlns:a16="http://schemas.microsoft.com/office/drawing/2014/main" id="{F7B0C4E7-0DF7-4209-A16F-728D14A0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05000"/>
            <a:ext cx="5248275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5" name="right">
            <a:extLst xmlns:a="http://schemas.openxmlformats.org/drawingml/2006/main">
              <a:ext uri="{FF2B5EF4-FFF2-40B4-BE49-F238E27FC236}">
                <a16:creationId xmlns:a16="http://schemas.microsoft.com/office/drawing/2014/main" id="{FE84F86B-86C4-4762-8394-C94F8755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5248275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6" name="registered">
            <a:extLst xmlns:a="http://schemas.openxmlformats.org/drawingml/2006/main">
              <a:ext uri="{FF2B5EF4-FFF2-40B4-BE49-F238E27FC236}">
                <a16:creationId xmlns:a16="http://schemas.microsoft.com/office/drawing/2014/main" id="{10D6830B-5852-4963-AE63-50A70CA4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457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71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REGISTER</a:t>
            </a:r>
          </a:p>
        </p:txBody>
      </p:sp>
      <p:sp>
        <p:nvSpPr>
          <p:cNvPr id="7" name="reg-body">
            <a:extLst xmlns:a="http://schemas.openxmlformats.org/drawingml/2006/main">
              <a:ext uri="{FF2B5EF4-FFF2-40B4-BE49-F238E27FC236}">
                <a16:creationId xmlns:a16="http://schemas.microsoft.com/office/drawing/2014/main" id="{06CC47F6-97AF-4012-95C7-F4D04E91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4572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1000 и 1001 в разных portable MicroSIP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адрес WSL, разные локальные SIP/RTP-порты</a:t>
            </a:r>
          </a:p>
        </p:txBody>
      </p:sp>
      <p:sp>
        <p:nvSpPr>
          <p:cNvPr id="8" name="reg-cli">
            <a:extLst xmlns:a="http://schemas.openxmlformats.org/drawingml/2006/main">
              <a:ext uri="{FF2B5EF4-FFF2-40B4-BE49-F238E27FC236}">
                <a16:creationId xmlns:a16="http://schemas.microsoft.com/office/drawing/2014/main" id="{D9107365-DCFD-4ABA-9ED7-6C0C6A17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sofia status profile internal reg</a:t>
            </a:r>
          </a:p>
        </p:txBody>
      </p:sp>
      <p:sp>
        <p:nvSpPr>
          <p:cNvPr id="9" name="direct">
            <a:extLst xmlns:a="http://schemas.openxmlformats.org/drawingml/2006/main">
              <a:ext uri="{FF2B5EF4-FFF2-40B4-BE49-F238E27FC236}">
                <a16:creationId xmlns:a16="http://schemas.microsoft.com/office/drawing/2014/main" id="{8755A84B-2316-42DF-B212-3464508E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24075"/>
            <a:ext cx="457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71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ПРЯМОЙ ВЫЗОВ</a:t>
            </a:r>
          </a:p>
        </p:txBody>
      </p:sp>
      <p:sp>
        <p:nvSpPr>
          <p:cNvPr id="10" name="direct-body">
            <a:extLst xmlns:a="http://schemas.openxmlformats.org/drawingml/2006/main">
              <a:ext uri="{FF2B5EF4-FFF2-40B4-BE49-F238E27FC236}">
                <a16:creationId xmlns:a16="http://schemas.microsoft.com/office/drawing/2014/main" id="{062B61D7-0389-488D-BF68-53654E02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14625"/>
            <a:ext cx="4572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1000 → 1001 → ответ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Фраза слышна в обе стороны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Проверяем две ноги и PCMU</a:t>
            </a:r>
          </a:p>
        </p:txBody>
      </p:sp>
      <p:sp>
        <p:nvSpPr>
          <p:cNvPr id="11" name="direct-cli">
            <a:extLst xmlns:a="http://schemas.openxmlformats.org/drawingml/2006/main">
              <a:ext uri="{FF2B5EF4-FFF2-40B4-BE49-F238E27FC236}">
                <a16:creationId xmlns:a16="http://schemas.microsoft.com/office/drawing/2014/main" id="{15BD36B1-8EF9-41B0-BF0A-FBBC73E9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fs_cli -x "show channels"</a:t>
            </a:r>
          </a:p>
        </p:txBody>
      </p:sp>
      <p:sp>
        <p:nvSpPr>
          <p:cNvPr id="12" name="why">
            <a:extLst xmlns:a="http://schemas.openxmlformats.org/drawingml/2006/main">
              <a:ext uri="{FF2B5EF4-FFF2-40B4-BE49-F238E27FC236}">
                <a16:creationId xmlns:a16="http://schemas.microsoft.com/office/drawing/2014/main" id="{F10F7566-4C51-479C-8F3D-15C735E9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514975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Если прямой вызов не работает — очереди пока не трогаем.</a:t>
            </a:r>
          </a:p>
        </p:txBody>
      </p:sp>
    </p:spTree>
    <p:extLst>
      <p:ext uri="{BB962C8B-B14F-4D97-AF65-F5344CB8AC3E}">
        <p14:creationId xmlns:p14="http://schemas.microsoft.com/office/powerpoint/2010/main" val="35256949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85AB6213-BC8C-4519-8D73-2DA1CB83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3875"/>
            <a:ext cx="1104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Очередь — это цепочка связей</a:t>
            </a:r>
          </a:p>
        </p:txBody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32620E5E-2B00-4BD6-885D-631CFC7D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146"/>
          </a:solidFill>
          <a:ln xmlns:a="http://schemas.openxmlformats.org/drawingml/2006/main" w="0">
            <a:noFill/>
          </a:ln>
        </p:spPr>
      </p:sp>
      <p:sp>
        <p:nvSpPr>
          <p:cNvPr id="3" name="time">
            <a:extLst xmlns:a="http://schemas.openxmlformats.org/drawingml/2006/main">
              <a:ext uri="{FF2B5EF4-FFF2-40B4-BE49-F238E27FC236}">
                <a16:creationId xmlns:a16="http://schemas.microsoft.com/office/drawing/2014/main" id="{EF52D7BE-4146-4A2A-B6C5-7A705D96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25–40 мин</a:t>
            </a:r>
          </a:p>
        </p:txBody>
      </p:sp>
      <p:sp>
        <p:nvSpPr>
          <p:cNvPr id="4" name="chain">
            <a:extLst xmlns:a="http://schemas.openxmlformats.org/drawingml/2006/main">
              <a:ext uri="{FF2B5EF4-FFF2-40B4-BE49-F238E27FC236}">
                <a16:creationId xmlns:a16="http://schemas.microsoft.com/office/drawing/2014/main" id="{0D9F9E65-D2A2-42C6-8048-27312163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192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номер → dialplan → queue → tier → agent → SIP-контакт</a:t>
            </a:r>
          </a:p>
        </p:txBody>
      </p:sp>
      <p:sp>
        <p:nvSpPr>
          <p:cNvPr id="5" name="support">
            <a:extLst xmlns:a="http://schemas.openxmlformats.org/drawingml/2006/main">
              <a:ext uri="{FF2B5EF4-FFF2-40B4-BE49-F238E27FC236}">
                <a16:creationId xmlns:a16="http://schemas.microsoft.com/office/drawing/2014/main" id="{2BEC1F8F-4591-4E16-A626-119F64D5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47975"/>
            <a:ext cx="10953750" cy="1152525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6" name="support-route">
            <a:extLst xmlns:a="http://schemas.openxmlformats.org/drawingml/2006/main">
              <a:ext uri="{FF2B5EF4-FFF2-40B4-BE49-F238E27FC236}">
                <a16:creationId xmlns:a16="http://schemas.microsoft.com/office/drawing/2014/main" id="{91928454-64F4-409D-95BB-A878D433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67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7000 → support@default → 1001@default → user/1001@$${domain}</a:t>
            </a:r>
          </a:p>
        </p:txBody>
      </p:sp>
      <p:sp>
        <p:nvSpPr>
          <p:cNvPr id="7" name="bot">
            <a:extLst xmlns:a="http://schemas.openxmlformats.org/drawingml/2006/main">
              <a:ext uri="{FF2B5EF4-FFF2-40B4-BE49-F238E27FC236}">
                <a16:creationId xmlns:a16="http://schemas.microsoft.com/office/drawing/2014/main" id="{A3935FC9-7F96-4F94-AA2F-6B018046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10953750" cy="1152525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8" name="bot-route">
            <a:extLst xmlns:a="http://schemas.openxmlformats.org/drawingml/2006/main">
              <a:ext uri="{FF2B5EF4-FFF2-40B4-BE49-F238E27FC236}">
                <a16:creationId xmlns:a16="http://schemas.microsoft.com/office/drawing/2014/main" id="{58DDC134-2AE0-4C75-BAAE-2C5406C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481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7100 → science-bot@default → 1002@default → user/1002@$${domain}</a:t>
            </a:r>
          </a:p>
        </p:txBody>
      </p:sp>
      <p:sp>
        <p:nvSpPr>
          <p:cNvPr id="9" name="check">
            <a:extLst xmlns:a="http://schemas.openxmlformats.org/drawingml/2006/main">
              <a:ext uri="{FF2B5EF4-FFF2-40B4-BE49-F238E27FC236}">
                <a16:creationId xmlns:a16="http://schemas.microsoft.com/office/drawing/2014/main" id="{501FEA47-4484-4476-8C2B-6E2E0205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9120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modules.conf.xml  •  callcenter.conf.xml  •  dialplan/default/20_workshop_callcenter.xml</a:t>
            </a:r>
          </a:p>
        </p:txBody>
      </p:sp>
    </p:spTree>
    <p:extLst>
      <p:ext uri="{BB962C8B-B14F-4D97-AF65-F5344CB8AC3E}">
        <p14:creationId xmlns:p14="http://schemas.microsoft.com/office/powerpoint/2010/main" val="17795761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957CAA7A-5E06-4782-9E1E-49FD4588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3875"/>
            <a:ext cx="1104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Живой gate: звонок на 7000</a:t>
            </a:r>
          </a:p>
        </p:txBody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B6BC2066-F0D3-4B6D-A1C4-E58C8346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146"/>
          </a:solidFill>
          <a:ln xmlns:a="http://schemas.openxmlformats.org/drawingml/2006/main" w="0">
            <a:noFill/>
          </a:ln>
        </p:spPr>
      </p:sp>
      <p:sp>
        <p:nvSpPr>
          <p:cNvPr id="3" name="time">
            <a:extLst xmlns:a="http://schemas.openxmlformats.org/drawingml/2006/main">
              <a:ext uri="{FF2B5EF4-FFF2-40B4-BE49-F238E27FC236}">
                <a16:creationId xmlns:a16="http://schemas.microsoft.com/office/drawing/2014/main" id="{5FD8761D-7C0B-4608-8F6D-EC5F86B9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40–50 мин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A3CD8FBA-86DA-42FD-A8B7-63C8934E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3812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5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8A07A9D0-98AA-4FB0-90B3-2689EF78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Набрать</a:t>
            </a:r>
          </a:p>
        </p:txBody>
      </p:sp>
      <p:sp>
        <p:nvSpPr>
          <p:cNvPr id="6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A52D03DA-09A4-45EF-8F98-C31E011A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04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1000 → 7000</a:t>
            </a:r>
          </a:p>
        </p:txBody>
      </p:sp>
      <p:sp>
        <p:nvSpPr>
          <p:cNvPr id="7" name="arr-0">
            <a:extLst xmlns:a="http://schemas.openxmlformats.org/drawingml/2006/main">
              <a:ext uri="{FF2B5EF4-FFF2-40B4-BE49-F238E27FC236}">
                <a16:creationId xmlns:a16="http://schemas.microsoft.com/office/drawing/2014/main" id="{AE353852-B2DE-4204-82E0-6F18AC88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419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BBC7B106-B51E-4024-8E75-EA2ACC54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23812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6B423A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9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778FE80F-4ABB-4D05-9F21-0B013C90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62200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Подождать</a:t>
            </a:r>
          </a:p>
        </p:txBody>
      </p:sp>
      <p:sp>
        <p:nvSpPr>
          <p:cNvPr id="10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163A5E67-2434-412C-9549-C64BA07B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67050"/>
            <a:ext cx="204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Очередь</a:t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видит вызов</a:t>
            </a:r>
          </a:p>
        </p:txBody>
      </p:sp>
      <p:sp>
        <p:nvSpPr>
          <p:cNvPr id="11" name="arr-1">
            <a:extLst xmlns:a="http://schemas.openxmlformats.org/drawingml/2006/main">
              <a:ext uri="{FF2B5EF4-FFF2-40B4-BE49-F238E27FC236}">
                <a16:creationId xmlns:a16="http://schemas.microsoft.com/office/drawing/2014/main" id="{F8438B69-5707-41DB-AC25-3BF9BAE6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419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0BC4740D-B8D3-4013-93B0-54C4ADEE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23812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13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E10729B4-4732-4947-8DC6-B104732F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Ответить</a:t>
            </a:r>
          </a:p>
        </p:txBody>
      </p:sp>
      <p:sp>
        <p:nvSpPr>
          <p:cNvPr id="14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2AF00467-39A6-4760-A661-8CBEE9B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204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MicroSIP 1001</a:t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поднимает трубку</a:t>
            </a:r>
          </a:p>
        </p:txBody>
      </p:sp>
      <p:sp>
        <p:nvSpPr>
          <p:cNvPr id="15" name="arr-2">
            <a:extLst xmlns:a="http://schemas.openxmlformats.org/drawingml/2006/main">
              <a:ext uri="{FF2B5EF4-FFF2-40B4-BE49-F238E27FC236}">
                <a16:creationId xmlns:a16="http://schemas.microsoft.com/office/drawing/2014/main" id="{2F1A0B72-73A7-4773-B715-54CD5AAF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71800"/>
            <a:ext cx="419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65425883-9628-4C04-85BD-AC6491F0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23812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6B423A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17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3C5C31B5-3EF3-4DCD-8D4F-C928AF7B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62200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Проверить</a:t>
            </a:r>
          </a:p>
        </p:txBody>
      </p:sp>
      <p:sp>
        <p:nvSpPr>
          <p:cNvPr id="18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A7888DC3-C957-4B04-A20A-A503DAC6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204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Двусторонний голос</a:t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 PCMU</a:t>
            </a:r>
          </a:p>
        </p:txBody>
      </p:sp>
      <p:sp>
        <p:nvSpPr>
          <p:cNvPr id="19" name="evidence">
            <a:extLst xmlns:a="http://schemas.openxmlformats.org/drawingml/2006/main">
              <a:ext uri="{FF2B5EF4-FFF2-40B4-BE49-F238E27FC236}">
                <a16:creationId xmlns:a16="http://schemas.microsoft.com/office/drawing/2014/main" id="{A10E506D-781B-4B6C-AD9A-C13260C5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95875"/>
            <a:ext cx="1047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queue members  •  agent list  •  show channels  •  слышимость</a:t>
            </a:r>
          </a:p>
        </p:txBody>
      </p:sp>
    </p:spTree>
    <p:extLst>
      <p:ext uri="{BB962C8B-B14F-4D97-AF65-F5344CB8AC3E}">
        <p14:creationId xmlns:p14="http://schemas.microsoft.com/office/powerpoint/2010/main" val="10445131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F3FB9D4-AA0C-4AC6-B6FA-2C277CFA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3875"/>
            <a:ext cx="1104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Сравниваем результат, не лозунги</a:t>
            </a:r>
          </a:p>
        </p:txBody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F4EAA7EC-EA1F-4F9D-BB5F-946FFCBB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146"/>
          </a:solidFill>
          <a:ln xmlns:a="http://schemas.openxmlformats.org/drawingml/2006/main" w="0">
            <a:noFill/>
          </a:ln>
        </p:spPr>
      </p:sp>
      <p:sp>
        <p:nvSpPr>
          <p:cNvPr id="3" name="time">
            <a:extLst xmlns:a="http://schemas.openxmlformats.org/drawingml/2006/main">
              <a:ext uri="{FF2B5EF4-FFF2-40B4-BE49-F238E27FC236}">
                <a16:creationId xmlns:a16="http://schemas.microsoft.com/office/drawing/2014/main" id="{9C86C48F-78C5-483F-B630-D1C4033B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50–55 мин</a:t>
            </a:r>
          </a:p>
        </p:txBody>
      </p:sp>
      <p:sp>
        <p:nvSpPr>
          <p:cNvPr id="4" name="comparison">
            <a:extLst xmlns:a="http://schemas.openxmlformats.org/drawingml/2006/main">
              <a:ext uri="{FF2B5EF4-FFF2-40B4-BE49-F238E27FC236}">
                <a16:creationId xmlns:a16="http://schemas.microsoft.com/office/drawing/2014/main" id="{5B596A8F-F478-4A12-9BE9-6CC41DCA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277177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563B36"/>
          </a:solidFill>
          <a:ln xmlns:a="http://schemas.openxmlformats.org/drawingml/2006/main" w="14288">
            <a:solidFill>
              <a:srgbClr val="96665B"/>
            </a:solidFill>
          </a:ln>
        </p:spPr>
      </p:sp>
      <p:sp>
        <p:nvSpPr>
          <p:cNvPr id="5" name="header">
            <a:extLst xmlns:a="http://schemas.openxmlformats.org/drawingml/2006/main">
              <a:ext uri="{FF2B5EF4-FFF2-40B4-BE49-F238E27FC236}">
                <a16:creationId xmlns:a16="http://schemas.microsoft.com/office/drawing/2014/main" id="{302103E9-87B2-4631-9036-DE9B155F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09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Критерии одинаковы</a:t>
            </a:r>
          </a:p>
        </p:txBody>
      </p:sp>
      <p:sp>
        <p:nvSpPr>
          <p:cNvPr id="6" name="check-list">
            <a:extLst xmlns:a="http://schemas.openxmlformats.org/drawingml/2006/main">
              <a:ext uri="{FF2B5EF4-FFF2-40B4-BE49-F238E27FC236}">
                <a16:creationId xmlns:a16="http://schemas.microsoft.com/office/drawing/2014/main" id="{2E71BAB0-03B4-48F8-8349-F6513518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Служба активна   •   2 регистрации   •   прямой PCMU-звонок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 очереди + 2 агента + 2 tier   •   7000 answered + звук</a:t>
            </a:r>
          </a:p>
        </p:txBody>
      </p:sp>
      <p:sp>
        <p:nvSpPr>
          <p:cNvPr id="7" name="metric">
            <a:extLst xmlns:a="http://schemas.openxmlformats.org/drawingml/2006/main">
              <a:ext uri="{FF2B5EF4-FFF2-40B4-BE49-F238E27FC236}">
                <a16:creationId xmlns:a16="http://schemas.microsoft.com/office/drawing/2014/main" id="{B7355D87-2BF6-4BB9-BBBF-560FF668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Считаем активное время отдельно от ожидания SIP-окна.</a:t>
            </a:r>
          </a:p>
        </p:txBody>
      </p:sp>
      <p:sp>
        <p:nvSpPr>
          <p:cNvPr id="8" name="next">
            <a:extLst xmlns:a="http://schemas.openxmlformats.org/drawingml/2006/main">
              <a:ext uri="{FF2B5EF4-FFF2-40B4-BE49-F238E27FC236}">
                <a16:creationId xmlns:a16="http://schemas.microsoft.com/office/drawing/2014/main" id="{6552E310-C7B5-4F67-9E85-E9040A5E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Далее: подключим бота 1002, загрузим RAG и проверим 7100 → 7000.</a:t>
            </a:r>
          </a:p>
        </p:txBody>
      </p:sp>
    </p:spTree>
    <p:extLst>
      <p:ext uri="{BB962C8B-B14F-4D97-AF65-F5344CB8AC3E}">
        <p14:creationId xmlns:p14="http://schemas.microsoft.com/office/powerpoint/2010/main" val="16911676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6FA7D4-F50E-C19F-8F9D-F315FCDC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550421"/>
            <a:ext cx="1152128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1" i="0" u="none" cap="none" spc="0">
                <a:ln>
                  <a:noFill/>
                </a:ln>
                <a:solidFill>
                  <a:prstClr val="white"/>
                </a:solidFill>
                <a:latin typeface="Montserrat"/>
                <a:ea typeface="Montserrat"/>
                <a:cs typeface="Montserrat"/>
              </a:rPr>
              <a:t>Итоги</a:t>
            </a:r>
          </a:p>
        </p:txBody>
      </p:sp>
      <p:pic>
        <p:nvPicPr>
          <p:cNvPr id="23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0714475054ea7">
            <a:extLst>
              <a:ext uri="{96DAC541-7B7A-43D3-8B79-37D633B846F1}">
                <asvg:svgBlip xmlns:asvg="http://schemas.microsoft.com/office/drawing/2016/SVG/main" r:embed="Rca77efb036574a6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2970" y="1267019"/>
            <a:ext cx="1352550" cy="145757"/>
          </a:xfrm>
          <a:prstGeom xmlns:a="http://schemas.openxmlformats.org/drawingml/2006/main" prst="rect">
            <a:avLst/>
          </a:prstGeom>
        </p:spPr>
      </p:pic>
      <p:sp>
        <p:nvSpPr>
          <p:cNvPr id="6" name="bullet-left-0">
            <a:extLst xmlns:a="http://schemas.openxmlformats.org/drawingml/2006/main">
              <a:ext uri="{FF2B5EF4-FFF2-40B4-BE49-F238E27FC236}">
                <a16:creationId xmlns:a16="http://schemas.microsoft.com/office/drawing/2014/main" id="{EA1E3CD6-53B9-45B2-8652-955403E1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71675"/>
            <a:ext cx="29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•</a:t>
            </a:r>
          </a:p>
        </p:txBody>
      </p:sp>
      <p:sp>
        <p:nvSpPr>
          <p:cNvPr id="7" name="outcome-left-0">
            <a:extLst xmlns:a="http://schemas.openxmlformats.org/drawingml/2006/main">
              <a:ext uri="{FF2B5EF4-FFF2-40B4-BE49-F238E27FC236}">
                <a16:creationId xmlns:a16="http://schemas.microsoft.com/office/drawing/2014/main" id="{D6FD56CC-8AFC-4C50-9BB4-C216EA89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71675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Подписанные пакеты Debian 12</a:t>
            </a:r>
          </a:p>
        </p:txBody>
      </p:sp>
      <p:sp>
        <p:nvSpPr>
          <p:cNvPr id="8" name="bullet-right-0">
            <a:extLst xmlns:a="http://schemas.openxmlformats.org/drawingml/2006/main">
              <a:ext uri="{FF2B5EF4-FFF2-40B4-BE49-F238E27FC236}">
                <a16:creationId xmlns:a16="http://schemas.microsoft.com/office/drawing/2014/main" id="{E0AA78B2-6FEE-4A8B-BD69-DBDA60FC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29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•</a:t>
            </a:r>
          </a:p>
        </p:txBody>
      </p:sp>
      <p:sp>
        <p:nvSpPr>
          <p:cNvPr id="9" name="outcome-right-0">
            <a:extLst xmlns:a="http://schemas.openxmlformats.org/drawingml/2006/main">
              <a:ext uri="{FF2B5EF4-FFF2-40B4-BE49-F238E27FC236}">
                <a16:creationId xmlns:a16="http://schemas.microsoft.com/office/drawing/2014/main" id="{E94EC4AF-4E42-4BA6-A971-DEFAD18A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716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Queue ≠ agent ≠ tier</a:t>
            </a:r>
          </a:p>
        </p:txBody>
      </p:sp>
      <p:sp>
        <p:nvSpPr>
          <p:cNvPr id="10" name="bullet-left-1">
            <a:extLst xmlns:a="http://schemas.openxmlformats.org/drawingml/2006/main">
              <a:ext uri="{FF2B5EF4-FFF2-40B4-BE49-F238E27FC236}">
                <a16:creationId xmlns:a16="http://schemas.microsoft.com/office/drawing/2014/main" id="{B6AFA826-8FA8-4658-B8A7-F721369A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71800"/>
            <a:ext cx="29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•</a:t>
            </a:r>
          </a:p>
        </p:txBody>
      </p:sp>
      <p:sp>
        <p:nvSpPr>
          <p:cNvPr id="11" name="outcome-left-1">
            <a:extLst xmlns:a="http://schemas.openxmlformats.org/drawingml/2006/main">
              <a:ext uri="{FF2B5EF4-FFF2-40B4-BE49-F238E27FC236}">
                <a16:creationId xmlns:a16="http://schemas.microsoft.com/office/drawing/2014/main" id="{C1567A66-016F-4295-A716-611BAF63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7180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Две регистрации и прямой звонок</a:t>
            </a:r>
          </a:p>
        </p:txBody>
      </p:sp>
      <p:sp>
        <p:nvSpPr>
          <p:cNvPr id="12" name="bullet-right-1">
            <a:extLst xmlns:a="http://schemas.openxmlformats.org/drawingml/2006/main">
              <a:ext uri="{FF2B5EF4-FFF2-40B4-BE49-F238E27FC236}">
                <a16:creationId xmlns:a16="http://schemas.microsoft.com/office/drawing/2014/main" id="{0682B55F-1401-431F-8D2A-AF1E5304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29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•</a:t>
            </a:r>
          </a:p>
        </p:txBody>
      </p:sp>
      <p:sp>
        <p:nvSpPr>
          <p:cNvPr id="13" name="outcome-right-1">
            <a:extLst xmlns:a="http://schemas.openxmlformats.org/drawingml/2006/main">
              <a:ext uri="{FF2B5EF4-FFF2-40B4-BE49-F238E27FC236}">
                <a16:creationId xmlns:a16="http://schemas.microsoft.com/office/drawing/2014/main" id="{9A28AC80-314C-43D1-88D4-77986ADD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Приёмка: состояние + звук</a:t>
            </a:r>
          </a:p>
        </p:txBody>
      </p:sp>
      <p:sp>
        <p:nvSpPr>
          <p:cNvPr id="14" name="bullet-left-2">
            <a:extLst xmlns:a="http://schemas.openxmlformats.org/drawingml/2006/main">
              <a:ext uri="{FF2B5EF4-FFF2-40B4-BE49-F238E27FC236}">
                <a16:creationId xmlns:a16="http://schemas.microsoft.com/office/drawing/2014/main" id="{5524D111-E287-4746-B108-C314462B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71925"/>
            <a:ext cx="29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•</a:t>
            </a:r>
          </a:p>
        </p:txBody>
      </p:sp>
      <p:sp>
        <p:nvSpPr>
          <p:cNvPr id="15" name="outcome-left-2">
            <a:extLst xmlns:a="http://schemas.openxmlformats.org/drawingml/2006/main">
              <a:ext uri="{FF2B5EF4-FFF2-40B4-BE49-F238E27FC236}">
                <a16:creationId xmlns:a16="http://schemas.microsoft.com/office/drawing/2014/main" id="{626FD8AA-E8FA-49DF-85A5-0E78F149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71925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7000 → support → 1001</a:t>
            </a:r>
          </a:p>
        </p:txBody>
      </p:sp>
      <p:sp>
        <p:nvSpPr>
          <p:cNvPr id="16" name="bullet-right-2">
            <a:extLst xmlns:a="http://schemas.openxmlformats.org/drawingml/2006/main">
              <a:ext uri="{FF2B5EF4-FFF2-40B4-BE49-F238E27FC236}">
                <a16:creationId xmlns:a16="http://schemas.microsoft.com/office/drawing/2014/main" id="{FCA796E2-2C85-4965-8836-44565FDF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29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•</a:t>
            </a:r>
          </a:p>
        </p:txBody>
      </p:sp>
      <p:sp>
        <p:nvSpPr>
          <p:cNvPr id="17" name="outcome-right-2">
            <a:extLst xmlns:a="http://schemas.openxmlformats.org/drawingml/2006/main">
              <a:ext uri="{FF2B5EF4-FFF2-40B4-BE49-F238E27FC236}">
                <a16:creationId xmlns:a16="http://schemas.microsoft.com/office/drawing/2014/main" id="{2B6CDAE2-59C2-45B9-B926-614E4349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719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Две WSL-дорожки, один gate</a:t>
            </a:r>
          </a:p>
        </p:txBody>
      </p:sp>
      <p:sp>
        <p:nvSpPr>
          <p:cNvPr id="18" name="bullet-left-3">
            <a:extLst xmlns:a="http://schemas.openxmlformats.org/drawingml/2006/main">
              <a:ext uri="{FF2B5EF4-FFF2-40B4-BE49-F238E27FC236}">
                <a16:creationId xmlns:a16="http://schemas.microsoft.com/office/drawing/2014/main" id="{DBF6CF3C-4052-4401-AD1E-362C6B99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72050"/>
            <a:ext cx="29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•</a:t>
            </a:r>
          </a:p>
        </p:txBody>
      </p:sp>
      <p:sp>
        <p:nvSpPr>
          <p:cNvPr id="19" name="outcome-left-3">
            <a:extLst xmlns:a="http://schemas.openxmlformats.org/drawingml/2006/main">
              <a:ext uri="{FF2B5EF4-FFF2-40B4-BE49-F238E27FC236}">
                <a16:creationId xmlns:a16="http://schemas.microsoft.com/office/drawing/2014/main" id="{4368E461-C7FE-461B-8329-2A083E58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7205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7100 готова для бота</a:t>
            </a:r>
          </a:p>
        </p:txBody>
      </p:sp>
      <p:sp>
        <p:nvSpPr>
          <p:cNvPr id="20" name="bullet-right-3">
            <a:extLst xmlns:a="http://schemas.openxmlformats.org/drawingml/2006/main">
              <a:ext uri="{FF2B5EF4-FFF2-40B4-BE49-F238E27FC236}">
                <a16:creationId xmlns:a16="http://schemas.microsoft.com/office/drawing/2014/main" id="{D3EFE296-E84D-47CA-871F-CC881BF3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72050"/>
            <a:ext cx="29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C52E"/>
                </a:solidFill>
                <a:latin typeface="Montserrat"/>
                <a:ea typeface="Montserrat"/>
                <a:cs typeface="Montserrat"/>
              </a:rPr>
              <a:t>•</a:t>
            </a:r>
          </a:p>
        </p:txBody>
      </p:sp>
      <p:sp>
        <p:nvSpPr>
          <p:cNvPr id="21" name="outcome-right-3">
            <a:extLst xmlns:a="http://schemas.openxmlformats.org/drawingml/2006/main">
              <a:ext uri="{FF2B5EF4-FFF2-40B4-BE49-F238E27FC236}">
                <a16:creationId xmlns:a16="http://schemas.microsoft.com/office/drawing/2014/main" id="{47533A59-1B60-4B52-A951-3D3C01BC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Далее: бот 1002 + RAG</a:t>
            </a:r>
          </a:p>
        </p:txBody>
      </p:sp>
    </p:spTree>
    <p:extLst>
      <p:ext uri="{BB962C8B-B14F-4D97-AF65-F5344CB8AC3E}">
        <p14:creationId xmlns:p14="http://schemas.microsoft.com/office/powerpoint/2010/main" val="14217081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785EA1-9862-20EB-BBD2-B9379B07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40" y="836712"/>
            <a:ext cx="7272808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500" b="1" i="0" u="none" cap="none" spc="0">
                <a:ln>
                  <a:noFill/>
                </a:ln>
                <a:solidFill>
                  <a:prstClr val="white"/>
                </a:solidFill>
                <a:latin typeface="Montserrat"/>
                <a:ea typeface="Montserrat"/>
                <a:cs typeface="Montserrat"/>
              </a:rPr>
              <a:t>Спасибо за внимание!</a:t>
            </a:r>
            <a:endParaRPr sz="4500" b="0" i="0" u="none" kern="1200" cap="none" spc="0" baseline="0">
              <a:ln>
                <a:noFill/>
              </a:ln>
              <a:solidFill>
                <a:prstClr val="white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C44C5FA-8878-A787-E450-3DDBF851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40" y="1649190"/>
            <a:ext cx="537791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Буду рад ответить на вопросы сейчас или после мастер-класса:</a:t>
            </a:r>
          </a:p>
        </p:txBody>
      </p:sp>
      <p:sp>
        <p:nvSpPr>
          <p:cNvPr id="7" name="Прямоугольник: скругленные углы 6">
            <a:extLst xmlns:a="http://schemas.openxmlformats.org/drawingml/2006/main">
              <a:ext uri="{FF2B5EF4-FFF2-40B4-BE49-F238E27FC236}">
                <a16:creationId xmlns:a16="http://schemas.microsoft.com/office/drawing/2014/main" id="{F9A87735-965F-6719-EF83-08F591BE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40" y="3645200"/>
            <a:ext cx="1584000" cy="1584000"/>
          </a:xfrm>
          <a:prstGeom xmlns:a="http://schemas.openxmlformats.org/drawingml/2006/main" prst="roundRect">
            <a:avLst>
              <a:gd name="adj" fmla="val 6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7" name="Рисунок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0b63adcbc47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440" y="3717200"/>
            <a:ext cx="1440000" cy="1440000"/>
          </a:xfrm>
          <a:prstGeom xmlns:a="http://schemas.openxmlformats.org/drawingml/2006/main" prst="rect">
            <a:avLst/>
          </a:prstGeom>
        </p:spPr>
      </p:pic>
      <p:pic>
        <p:nvPicPr>
          <p:cNvPr id="18" name="Рисунок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6af68e7ce4bd8">
            <a:extLst>
              <a:ext uri="{96DAC541-7B7A-43D3-8B79-37D633B846F1}">
                <asvg:svgBlip xmlns:asvg="http://schemas.microsoft.com/office/drawing/2016/SVG/main" r:embed="R5944d8f0491345c0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393252" y="6021288"/>
            <a:ext cx="1463388" cy="504056"/>
          </a:xfrm>
          <a:prstGeom xmlns:a="http://schemas.openxmlformats.org/drawingml/2006/main" prst="rect">
            <a:avLst/>
          </a:prstGeom>
        </p:spPr>
      </p:pic>
      <p:sp>
        <p:nvSpPr>
          <p:cNvPr id="10" name="speaker-name">
            <a:extLst xmlns:a="http://schemas.openxmlformats.org/drawingml/2006/main">
              <a:ext uri="{FF2B5EF4-FFF2-40B4-BE49-F238E27FC236}">
                <a16:creationId xmlns:a16="http://schemas.microsoft.com/office/drawing/2014/main" id="{914B9EEF-51DE-4D16-A296-B3B0DF97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590925"/>
            <a:ext cx="428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Борисов Дмитрий</a:t>
            </a:r>
          </a:p>
        </p:txBody>
      </p:sp>
      <p:sp>
        <p:nvSpPr>
          <p:cNvPr id="11" name="speaker-email">
            <a:extLst xmlns:a="http://schemas.openxmlformats.org/drawingml/2006/main">
              <a:ext uri="{FF2B5EF4-FFF2-40B4-BE49-F238E27FC236}">
                <a16:creationId xmlns:a16="http://schemas.microsoft.com/office/drawing/2014/main" id="{A57AA9BF-0DBC-49E8-8CA6-6728B506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576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dborisov@mail.ru</a:t>
            </a:r>
          </a:p>
        </p:txBody>
      </p:sp>
      <p:sp>
        <p:nvSpPr>
          <p:cNvPr id="12" name="speaker-phone">
            <a:extLst xmlns:a="http://schemas.openxmlformats.org/drawingml/2006/main">
              <a:ext uri="{FF2B5EF4-FFF2-40B4-BE49-F238E27FC236}">
                <a16:creationId xmlns:a16="http://schemas.microsoft.com/office/drawing/2014/main" id="{E27EE589-8765-4141-B9C5-D1A4AED9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5053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+7 905 723-97-18</a:t>
            </a:r>
          </a:p>
        </p:txBody>
      </p:sp>
      <p:sp>
        <p:nvSpPr>
          <p:cNvPr id="13" name="speaker-telegram">
            <a:extLst xmlns:a="http://schemas.openxmlformats.org/drawingml/2006/main">
              <a:ext uri="{FF2B5EF4-FFF2-40B4-BE49-F238E27FC236}">
                <a16:creationId xmlns:a16="http://schemas.microsoft.com/office/drawing/2014/main" id="{0F93A21A-6729-4B73-94B0-B174C38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9530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t.me/borikbobrujskov</a:t>
            </a:r>
          </a:p>
        </p:txBody>
      </p:sp>
    </p:spTree>
    <p:extLst>
      <p:ext uri="{BB962C8B-B14F-4D97-AF65-F5344CB8AC3E}">
        <p14:creationId xmlns:p14="http://schemas.microsoft.com/office/powerpoint/2010/main" val="2256946581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2026-09-23T13:48:16.0130000Z</dcterms:created>
  <dcterms:modified xsi:type="dcterms:W3CDTF">2026-09-23T13:48:16.0130000Z</dcterms:modified>
</coreProperties>
</file>